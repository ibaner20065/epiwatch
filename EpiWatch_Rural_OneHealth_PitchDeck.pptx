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In rural India, an epidemic is not just a healthcare problem — it is an economic catastrophe. Over 80% of livestock is owned by smallholder and marginal farmers, where a cow or buffalo is a family's only liquid bank account. We present EpiWatch GramRaksha + PashuRaksha: India's first end-to-end Rural One-Health Outbreak Shield, fusing 11 years of MOSPI livestock data, 356 Maharashtra tehsils from the 19th Census, and NASA satellite weather telemetry to predict outbreaks 4 to 8 weeks ahead.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focus on rural One-Health? Because when an epidemic hits an Indian village, it triggers a catastrophic domino effect. 84% of cattle and goats belong to smallholders with less than 2 hectares of land. If their milch cow dies of Lumpy Skin Disease or Hemorrhagic Septicemia, they lose their milk income, default on loans, and slide into poverty. Simultaneously, monsoon floodwaters contaminate village open wells, causing acute diarrhea and malaria. By the time government portals register cases, it is already too late.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often ask: 'How is this different from INAPH or IDSP?' The answer is simple: INAPH and IDSP are retrospective accounting books. They record deaths that have already happened. EpiWatch is a forward-looking intelligence engine. We give Chief Veterinary Officers and PHC medical officers 6.5 weeks of lead time to move Mobile Veterinary Units, vaccinate high-risk herds, and pre-position IV fluids and antimalarials before waterborne surges peak.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rests on 4 integrated rural pillars: 1. PashuRaksha: Protecting the smallholder livestock economy across 356 tehsils. 2. Monsoon &amp; Vector Defense: Human disease forecasting using satellite climate lags. 3. Pashu Sakhi Grassroots Portal: Offline-first NLP triage, Marathi IVR helpline, and 5-stage lab tracking. 4. SwasthSandhi: Occupational musculoskeletal osteoarthritis screening for agricultural laborers.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PashuRaksha in depth. We didn't stop at state-level summaries. We ingested the official 19th Livestock Census down to the tehsil level. We know exactly how many indigenous cows, crossbreds, buffaloes, and goats exist in Haveli taluka of Pune vs Karjat in Raigad. Coupled with 111 national models trained on 11 years of MOSPI epidemiological records, we accurately forecast disease spikes up to 2026.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2 addresses rural human epidemics. When monsoon flooding hits rural areas, contaminated drinking water causes massive spikes in Acute Diarrheal Disease. In forest-fringe tribal talukas, vector breeding causes Malaria spikes. There is an intrinsic biological lag of 6 to 8 weeks between satellite-observed rainfall spikes and the hospital admission surge. Our dual-tier ML models exploit this exact window, giving PHCs 6.5 weeks of lead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reach the grassroots where farmers don't have laptops? Through three key innovations: First, the Pashu Sakhi app gives community animal health workers an instant NLP triage engine. If a cow shows mouth blisters and lameness, it immediately flags suspected FMD with 94% confidence. Second, our toll-free 1800 helpline allows any farmer to speak in Marathi or Hindi. Third, our 5-stage lab tracking system monitors sample cold chains from the village cow shed to the district pathology lab.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One-Health includes the occupational well-being of the farmer. In rural India, agricultural workers spend 8 hours a day squatting in flooded paddy fields or carrying heavy sacks. Osteoarthritis is rampant and entirely unaddressed. Our SwasthSandhi module provides a rapid digital WOMAC screening tool backed by an ML classifier with an AUC of 0.96, allowing ASHA workers to flag early-stage joint disease before total disability occurs.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the entire system works in practice during a monsoon cycle: At Day 0, NASA satellites detect heavy rainfall in a rural block. By Week 1, our AI calculates a high-risk surge and alerts the District Collector and CMO. By Week 2, Mobile Veterinary Units and fogging machines are pre-dispatched. By Week 3, Pashu Sakhis inspect herds with the mobile triage tool. By the time the disease would have peaked in Week 6, the outbreak is already contained and herds are protected.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judges probe your rural implementation, emphasize these three points: 1. Zero technology barrier for farmers via vernacular Marathi/Hindi IVR. 2. Authentic tehsil granularity grounded in official 19th Livestock Census data. 3. Clear distinction from government portals: proactive 6.5-week forecasting vs. retrospective accounting.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technology stack is production-grade and fully open-source compliant: FastAPI backend with automated database fallback, Next.js frontend with blueprint UI styling, and 200+ trained ML models grounded in verified NASA satellite telemetry, MOSPI series, and 19th Livestock Census records.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46520"/>
            <a:ext cx="10728655" cy="320040"/>
          </a:xfrm>
          <a:prstGeom prst="rect">
            <a:avLst/>
          </a:prstGeom>
          <a:noFill/>
        </p:spPr>
        <p:txBody>
          <a:bodyPr wrap="square">
            <a:spAutoFit/>
          </a:bodyPr>
          <a:lstStyle/>
          <a:p>
            <a:pPr>
              <a:defRPr sz="850">
                <a:solidFill>
                  <a:srgbClr val="8FA3BF"/>
                </a:solidFill>
                <a:latin typeface="Consolas"/>
              </a:defRPr>
            </a:pPr>
            <a:r>
              <a:t>EPIWATCH GRAMRAKSHA + PASHURAKSHA  |  RURAL ONE-HEALTH AI DEFENSE SHIELD  |  CONFIDENTIAL &amp; PROPRIETARY</a:t>
            </a:r>
          </a:p>
        </p:txBody>
      </p:sp>
      <p:sp>
        <p:nvSpPr>
          <p:cNvPr id="4" name="Rectangle 3"/>
          <p:cNvSpPr/>
          <p:nvPr/>
        </p:nvSpPr>
        <p:spPr>
          <a:xfrm>
            <a:off x="731520" y="914400"/>
            <a:ext cx="10728655" cy="5303520"/>
          </a:xfrm>
          <a:prstGeom prst="rect">
            <a:avLst/>
          </a:prstGeom>
          <a:solidFill>
            <a:srgbClr val="0C1E3D"/>
          </a:solidFill>
          <a:ln w="1905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1280160"/>
            <a:ext cx="4754880" cy="347472"/>
          </a:xfrm>
          <a:prstGeom prst="rect">
            <a:avLst/>
          </a:prstGeom>
          <a:solidFill>
            <a:srgbClr val="071120"/>
          </a:solidFill>
          <a:ln>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F0FF"/>
                </a:solidFill>
                <a:latin typeface="Consolas"/>
              </a:defRPr>
            </a:pPr>
            <a:r>
              <a:t>⚡ RURAL ONE-HEALTH DEFENSE SHIELD V2.0</a:t>
            </a:r>
          </a:p>
        </p:txBody>
      </p:sp>
      <p:sp>
        <p:nvSpPr>
          <p:cNvPr id="6" name="TextBox 5"/>
          <p:cNvSpPr txBox="1"/>
          <p:nvPr/>
        </p:nvSpPr>
        <p:spPr>
          <a:xfrm>
            <a:off x="1097280" y="1737360"/>
            <a:ext cx="10058400" cy="1371600"/>
          </a:xfrm>
          <a:prstGeom prst="rect">
            <a:avLst/>
          </a:prstGeom>
          <a:noFill/>
        </p:spPr>
        <p:txBody>
          <a:bodyPr wrap="none">
            <a:spAutoFit/>
          </a:bodyPr>
          <a:lstStyle/>
          <a:p>
            <a:pPr>
              <a:defRPr sz="3000" b="1">
                <a:solidFill>
                  <a:srgbClr val="FFFFFF"/>
                </a:solidFill>
                <a:latin typeface="Segoe UI"/>
              </a:defRPr>
            </a:pPr>
            <a:r>
              <a:t>EpiWatch GramRaksha + PashuRaksha (पशुरक्षा)</a:t>
            </a:r>
          </a:p>
          <a:p>
            <a:pPr>
              <a:defRPr sz="1500">
                <a:solidFill>
                  <a:srgbClr val="00D4AA"/>
                </a:solidFill>
                <a:latin typeface="Segoe UI"/>
              </a:defRPr>
            </a:pPr>
            <a:r>
              <a:t>AI-Powered Rural One-Health Disease Intelligence &amp; Smallholder Livestock Livelihood Shield</a:t>
            </a:r>
          </a:p>
        </p:txBody>
      </p:sp>
      <p:sp>
        <p:nvSpPr>
          <p:cNvPr id="7" name="TextBox 6"/>
          <p:cNvSpPr txBox="1"/>
          <p:nvPr/>
        </p:nvSpPr>
        <p:spPr>
          <a:xfrm>
            <a:off x="1097280" y="3108960"/>
            <a:ext cx="9875520" cy="1188720"/>
          </a:xfrm>
          <a:prstGeom prst="rect">
            <a:avLst/>
          </a:prstGeom>
          <a:noFill/>
        </p:spPr>
        <p:txBody>
          <a:bodyPr wrap="square">
            <a:spAutoFit/>
          </a:bodyPr>
          <a:lstStyle/>
          <a:p>
            <a:pPr>
              <a:defRPr sz="1200">
                <a:solidFill>
                  <a:srgbClr val="C8D7E6"/>
                </a:solidFill>
                <a:latin typeface="Segoe UI"/>
              </a:defRPr>
            </a:pPr>
            <a:r>
              <a:t>Empowering Gram Panchayats, Primary Health Centres (PHCs), Pashu Sakhis, and smallholder farmers by fusing 11-year MOSPI livestock records, 19th Census block figures across 356 Maharashtra tehsils, and NASA POWER climate satellite telemetry to forecast animal epidemics and monsoon waterborne surges 4–8 weeks in advance.</a:t>
            </a:r>
          </a:p>
        </p:txBody>
      </p:sp>
      <p:sp>
        <p:nvSpPr>
          <p:cNvPr id="8" name="Rectangle 7"/>
          <p:cNvSpPr/>
          <p:nvPr/>
        </p:nvSpPr>
        <p:spPr>
          <a:xfrm>
            <a:off x="1097280" y="4480560"/>
            <a:ext cx="2377440" cy="1371600"/>
          </a:xfrm>
          <a:prstGeom prst="rect">
            <a:avLst/>
          </a:prstGeom>
          <a:solidFill>
            <a:srgbClr val="071120"/>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D4AF37"/>
                </a:solidFill>
                <a:latin typeface="Consolas"/>
              </a:defRPr>
            </a:pPr>
            <a:r>
              <a:t>356 TEHSILS</a:t>
            </a:r>
          </a:p>
          <a:p>
            <a:pPr>
              <a:defRPr sz="950">
                <a:solidFill>
                  <a:srgbClr val="8FA3BF"/>
                </a:solidFill>
                <a:latin typeface="Segoe UI"/>
              </a:defRPr>
            </a:pPr>
            <a:r>
              <a:t>34 Maharashtra Districts</a:t>
            </a:r>
          </a:p>
        </p:txBody>
      </p:sp>
      <p:sp>
        <p:nvSpPr>
          <p:cNvPr id="9" name="Rectangle 8"/>
          <p:cNvSpPr/>
          <p:nvPr/>
        </p:nvSpPr>
        <p:spPr>
          <a:xfrm>
            <a:off x="3611880" y="4480560"/>
            <a:ext cx="2377440" cy="1371600"/>
          </a:xfrm>
          <a:prstGeom prst="rect">
            <a:avLst/>
          </a:prstGeom>
          <a:solidFill>
            <a:srgbClr val="071120"/>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D4AA"/>
                </a:solidFill>
                <a:latin typeface="Consolas"/>
              </a:defRPr>
            </a:pPr>
            <a:r>
              <a:t>111 ML MODELS</a:t>
            </a:r>
          </a:p>
          <a:p>
            <a:pPr>
              <a:defRPr sz="950">
                <a:solidFill>
                  <a:srgbClr val="8FA3BF"/>
                </a:solidFill>
                <a:latin typeface="Segoe UI"/>
              </a:defRPr>
            </a:pPr>
            <a:r>
              <a:t>National Livestock Ensembles</a:t>
            </a:r>
          </a:p>
        </p:txBody>
      </p:sp>
      <p:sp>
        <p:nvSpPr>
          <p:cNvPr id="10" name="Rectangle 9"/>
          <p:cNvSpPr/>
          <p:nvPr/>
        </p:nvSpPr>
        <p:spPr>
          <a:xfrm>
            <a:off x="6126480" y="4480560"/>
            <a:ext cx="2377440" cy="1371600"/>
          </a:xfrm>
          <a:prstGeom prst="rect">
            <a:avLst/>
          </a:prstGeom>
          <a:solidFill>
            <a:srgbClr val="071120"/>
          </a:solidFill>
          <a:ln w="1270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F0FF"/>
                </a:solidFill>
                <a:latin typeface="Consolas"/>
              </a:defRPr>
            </a:pPr>
            <a:r>
              <a:t>6.5 WKS LEAD</a:t>
            </a:r>
          </a:p>
          <a:p>
            <a:pPr>
              <a:defRPr sz="950">
                <a:solidFill>
                  <a:srgbClr val="8FA3BF"/>
                </a:solidFill>
                <a:latin typeface="Segoe UI"/>
              </a:defRPr>
            </a:pPr>
            <a:r>
              <a:t>Mean Early Warning Window</a:t>
            </a:r>
          </a:p>
        </p:txBody>
      </p:sp>
      <p:sp>
        <p:nvSpPr>
          <p:cNvPr id="11" name="Rectangle 10"/>
          <p:cNvSpPr/>
          <p:nvPr/>
        </p:nvSpPr>
        <p:spPr>
          <a:xfrm>
            <a:off x="8641080" y="4480560"/>
            <a:ext cx="2377440" cy="1371600"/>
          </a:xfrm>
          <a:prstGeom prst="rect">
            <a:avLst/>
          </a:prstGeom>
          <a:solidFill>
            <a:srgbClr val="071120"/>
          </a:solidFill>
          <a:ln w="1270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4FC3F7"/>
                </a:solidFill>
                <a:latin typeface="Consolas"/>
              </a:defRPr>
            </a:pPr>
            <a:r>
              <a:t>AUC 0.96</a:t>
            </a:r>
          </a:p>
          <a:p>
            <a:pPr>
              <a:defRPr sz="950">
                <a:solidFill>
                  <a:srgbClr val="8FA3BF"/>
                </a:solidFill>
                <a:latin typeface="Segoe UI"/>
              </a:defRPr>
            </a:pPr>
            <a:r>
              <a:t>Farmer Joint OA Classifier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46520"/>
            <a:ext cx="10728655" cy="320040"/>
          </a:xfrm>
          <a:prstGeom prst="rect">
            <a:avLst/>
          </a:prstGeom>
          <a:noFill/>
        </p:spPr>
        <p:txBody>
          <a:bodyPr wrap="square">
            <a:spAutoFit/>
          </a:bodyPr>
          <a:lstStyle/>
          <a:p>
            <a:pPr>
              <a:defRPr sz="850">
                <a:solidFill>
                  <a:srgbClr val="8FA3BF"/>
                </a:solidFill>
                <a:latin typeface="Consolas"/>
              </a:defRPr>
            </a:pPr>
            <a:r>
              <a:t>EPIWATCH GRAMRAKSHA + PASHURAKSHA  |  RURAL ONE-HEALTH AI DEFENSE SHIELD  |  CONFIDENTIAL &amp; PROPRIETARY</a:t>
            </a:r>
          </a:p>
        </p:txBody>
      </p:sp>
      <p:sp>
        <p:nvSpPr>
          <p:cNvPr id="4" name="Rectangle 3"/>
          <p:cNvSpPr/>
          <p:nvPr/>
        </p:nvSpPr>
        <p:spPr>
          <a:xfrm>
            <a:off x="731520" y="365760"/>
            <a:ext cx="4114800" cy="292608"/>
          </a:xfrm>
          <a:prstGeom prst="rect">
            <a:avLst/>
          </a:prstGeom>
          <a:solidFill>
            <a:srgbClr val="0C1E3D"/>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D4AA"/>
                </a:solidFill>
                <a:latin typeface="Consolas"/>
              </a:defRPr>
            </a:pPr>
            <a:r>
              <a:t>● PROBLEM STATEMENT  [PROB-01]</a:t>
            </a:r>
          </a:p>
        </p:txBody>
      </p:sp>
      <p:sp>
        <p:nvSpPr>
          <p:cNvPr id="5" name="TextBox 4"/>
          <p:cNvSpPr txBox="1"/>
          <p:nvPr/>
        </p:nvSpPr>
        <p:spPr>
          <a:xfrm>
            <a:off x="731520" y="713232"/>
            <a:ext cx="10698480" cy="594360"/>
          </a:xfrm>
          <a:prstGeom prst="rect">
            <a:avLst/>
          </a:prstGeom>
          <a:noFill/>
        </p:spPr>
        <p:txBody>
          <a:bodyPr wrap="none">
            <a:spAutoFit/>
          </a:bodyPr>
          <a:lstStyle/>
          <a:p>
            <a:pPr>
              <a:defRPr sz="2200" b="1">
                <a:solidFill>
                  <a:srgbClr val="FFFFFF"/>
                </a:solidFill>
                <a:latin typeface="Segoe UI"/>
              </a:defRPr>
            </a:pPr>
            <a:r>
              <a:t>The Rural Problem: Disease Outbreaks Are Economic Catastrophes</a:t>
            </a:r>
          </a:p>
        </p:txBody>
      </p:sp>
      <p:sp>
        <p:nvSpPr>
          <p:cNvPr id="6" name="Rectangle 5"/>
          <p:cNvSpPr/>
          <p:nvPr/>
        </p:nvSpPr>
        <p:spPr>
          <a:xfrm>
            <a:off x="731520" y="1463040"/>
            <a:ext cx="5120640" cy="4709160"/>
          </a:xfrm>
          <a:prstGeom prst="rect">
            <a:avLst/>
          </a:prstGeom>
          <a:solidFill>
            <a:srgbClr val="0C1E3D"/>
          </a:solidFill>
          <a:ln>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5252"/>
                </a:solidFill>
              </a:defRPr>
            </a:pPr>
            <a:r>
              <a:t>🚨 Critical Rural Vulnerabilities</a:t>
            </a:r>
          </a:p>
          <a:p>
            <a:br/>
            <a:pPr>
              <a:defRPr sz="1100" b="1">
                <a:solidFill>
                  <a:srgbClr val="FFFFFF"/>
                </a:solidFill>
              </a:defRPr>
            </a:pPr>
            <a:r>
              <a:t>• Livestock = Liquid Savings Bank</a:t>
            </a:r>
          </a:p>
          <a:p>
            <a:pPr>
              <a:defRPr sz="950">
                <a:solidFill>
                  <a:srgbClr val="C8D7E6"/>
                </a:solidFill>
              </a:defRPr>
            </a:pPr>
            <a:r>
              <a:t>84.2% of India's 536M livestock is reared by smallholder &amp; marginal farmers. A single FMD or LSD outbreak wipes out life savings and forces intergenerational moneylender debt.</a:t>
            </a:r>
          </a:p>
          <a:p>
            <a:br/>
            <a:pPr>
              <a:defRPr sz="1100" b="1">
                <a:solidFill>
                  <a:srgbClr val="FFFFFF"/>
                </a:solidFill>
              </a:defRPr>
            </a:pPr>
            <a:r>
              <a:t>• Zoonotic &amp; Monsoon Nexus</a:t>
            </a:r>
          </a:p>
          <a:p>
            <a:pPr>
              <a:defRPr sz="950">
                <a:solidFill>
                  <a:srgbClr val="C8D7E6"/>
                </a:solidFill>
              </a:defRPr>
            </a:pPr>
            <a:r>
              <a:t>75% of emerging infectious diseases originate at the rural animal-human-forest interface. Monsoon inundation triggers compound spikes in waterborne diarrhea (ADD) &amp; malaria.</a:t>
            </a:r>
          </a:p>
          <a:p>
            <a:br/>
            <a:pPr>
              <a:defRPr sz="1100" b="1">
                <a:solidFill>
                  <a:srgbClr val="FFFFFF"/>
                </a:solidFill>
              </a:defRPr>
            </a:pPr>
            <a:r>
              <a:t>• The Rural Diagnostic Desert</a:t>
            </a:r>
          </a:p>
          <a:p>
            <a:pPr>
              <a:defRPr sz="950">
                <a:solidFill>
                  <a:srgbClr val="C8D7E6"/>
                </a:solidFill>
              </a:defRPr>
            </a:pPr>
            <a:r>
              <a:t>Villages lack pathology labs. Farmers and PHC medical officers face 7–21 day delays sending samples 40km away to district headquarters.</a:t>
            </a:r>
          </a:p>
          <a:p>
            <a:br/>
            <a:pPr>
              <a:defRPr sz="1100" b="1">
                <a:solidFill>
                  <a:srgbClr val="FFFFFF"/>
                </a:solidFill>
              </a:defRPr>
            </a:pPr>
            <a:r>
              <a:t>• Status Quo is Late &amp; Reactive</a:t>
            </a:r>
          </a:p>
          <a:p>
            <a:pPr>
              <a:defRPr sz="950">
                <a:solidFill>
                  <a:srgbClr val="C8D7E6"/>
                </a:solidFill>
              </a:defRPr>
            </a:pPr>
            <a:r>
              <a:t>Current IDSP and INAPH portals only record hospital admissions after the epidemic has peaked and animals have died.</a:t>
            </a:r>
          </a:p>
        </p:txBody>
      </p:sp>
      <p:pic>
        <p:nvPicPr>
          <p:cNvPr id="7" name="Picture 6" descr="chart_rural_crisis.png"/>
          <p:cNvPicPr>
            <a:picLocks noChangeAspect="1"/>
          </p:cNvPicPr>
          <p:nvPr/>
        </p:nvPicPr>
        <p:blipFill>
          <a:blip r:embed="rId2"/>
          <a:stretch>
            <a:fillRect/>
          </a:stretch>
        </p:blipFill>
        <p:spPr>
          <a:xfrm>
            <a:off x="6035040" y="1463040"/>
            <a:ext cx="5394960" cy="242773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46520"/>
            <a:ext cx="10728655" cy="320040"/>
          </a:xfrm>
          <a:prstGeom prst="rect">
            <a:avLst/>
          </a:prstGeom>
          <a:noFill/>
        </p:spPr>
        <p:txBody>
          <a:bodyPr wrap="square">
            <a:spAutoFit/>
          </a:bodyPr>
          <a:lstStyle/>
          <a:p>
            <a:pPr>
              <a:defRPr sz="850">
                <a:solidFill>
                  <a:srgbClr val="8FA3BF"/>
                </a:solidFill>
                <a:latin typeface="Consolas"/>
              </a:defRPr>
            </a:pPr>
            <a:r>
              <a:t>EPIWATCH GRAMRAKSHA + PASHURAKSHA  |  RURAL ONE-HEALTH AI DEFENSE SHIELD  |  CONFIDENTIAL &amp; PROPRIETARY</a:t>
            </a:r>
          </a:p>
        </p:txBody>
      </p:sp>
      <p:sp>
        <p:nvSpPr>
          <p:cNvPr id="4" name="Rectangle 3"/>
          <p:cNvSpPr/>
          <p:nvPr/>
        </p:nvSpPr>
        <p:spPr>
          <a:xfrm>
            <a:off x="731520" y="365760"/>
            <a:ext cx="4114800" cy="292608"/>
          </a:xfrm>
          <a:prstGeom prst="rect">
            <a:avLst/>
          </a:prstGeom>
          <a:solidFill>
            <a:srgbClr val="0C1E3D"/>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D4AA"/>
                </a:solidFill>
                <a:latin typeface="Consolas"/>
              </a:defRPr>
            </a:pPr>
            <a:r>
              <a:t>● CORE INNOVATION  [SOL-01]</a:t>
            </a:r>
          </a:p>
        </p:txBody>
      </p:sp>
      <p:sp>
        <p:nvSpPr>
          <p:cNvPr id="5" name="TextBox 4"/>
          <p:cNvSpPr txBox="1"/>
          <p:nvPr/>
        </p:nvSpPr>
        <p:spPr>
          <a:xfrm>
            <a:off x="731520" y="713232"/>
            <a:ext cx="10698480" cy="594360"/>
          </a:xfrm>
          <a:prstGeom prst="rect">
            <a:avLst/>
          </a:prstGeom>
          <a:noFill/>
        </p:spPr>
        <p:txBody>
          <a:bodyPr wrap="none">
            <a:spAutoFit/>
          </a:bodyPr>
          <a:lstStyle/>
          <a:p>
            <a:pPr>
              <a:defRPr sz="2200" b="1">
                <a:solidFill>
                  <a:srgbClr val="FFFFFF"/>
                </a:solidFill>
                <a:latin typeface="Segoe UI"/>
              </a:defRPr>
            </a:pPr>
            <a:r>
              <a:t>The Solution: Proactive Rural One-Health Defense Shield</a:t>
            </a:r>
          </a:p>
        </p:txBody>
      </p:sp>
      <p:sp>
        <p:nvSpPr>
          <p:cNvPr id="6" name="Rectangle 5"/>
          <p:cNvSpPr/>
          <p:nvPr/>
        </p:nvSpPr>
        <p:spPr>
          <a:xfrm>
            <a:off x="731520" y="1463040"/>
            <a:ext cx="10728655" cy="1280160"/>
          </a:xfrm>
          <a:prstGeom prst="rect">
            <a:avLst/>
          </a:prstGeom>
          <a:solidFill>
            <a:srgbClr val="0C1E3D"/>
          </a:solidFill>
          <a:ln w="1905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D4AA"/>
                </a:solidFill>
              </a:defRPr>
            </a:pPr>
            <a:r>
              <a:t>🎯 The 30-Second Elevator Pitch</a:t>
            </a:r>
          </a:p>
          <a:p>
            <a:pPr>
              <a:defRPr sz="1100" i="1">
                <a:solidFill>
                  <a:srgbClr val="FFFFFF"/>
                </a:solidFill>
              </a:defRPr>
            </a:pPr>
            <a:r>
              <a:t>"We transform rural disease defense from late urban reaction to 4-to-8-week proactive field forecasting. By fusing 11 years of MOSPI records across 37 livestock diseases with block-level 19th Census data across all 356 Maharashtra tehsils and NASA climate satellite feeds, EpiWatch enables Gram Panchayats, Pashu Sakhis, and Primary Health Centres to quarantine herds, pre-stock medicines, and dispatch Mobile Veterinary Units before the crisis peaks."</a:t>
            </a:r>
          </a:p>
        </p:txBody>
      </p:sp>
      <p:sp>
        <p:nvSpPr>
          <p:cNvPr id="7" name="Rectangle 6"/>
          <p:cNvSpPr/>
          <p:nvPr/>
        </p:nvSpPr>
        <p:spPr>
          <a:xfrm>
            <a:off x="731520" y="2926080"/>
            <a:ext cx="3413455" cy="3246120"/>
          </a:xfrm>
          <a:prstGeom prst="rect">
            <a:avLst/>
          </a:prstGeom>
          <a:solidFill>
            <a:srgbClr val="0C1E3D"/>
          </a:solidFill>
          <a:ln w="15240">
            <a:solidFill>
              <a:srgbClr val="FF525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5252"/>
                </a:solidFill>
              </a:defRPr>
            </a:pPr>
            <a:r>
              <a:t>TRADITIONAL PORTALS (IDSP/INAPH)</a:t>
            </a:r>
          </a:p>
          <a:p>
            <a:br/>
            <a:pPr>
              <a:spcBef>
                <a:spcPts val="800"/>
              </a:spcBef>
              <a:defRPr sz="1000">
                <a:solidFill>
                  <a:srgbClr val="C8D7E6"/>
                </a:solidFill>
              </a:defRPr>
            </a:pPr>
            <a:r>
              <a:t>• Reactive case tallying</a:t>
            </a:r>
            <a:br/>
            <a:r>
              <a:t>• State/District broad grain</a:t>
            </a:r>
            <a:br/>
            <a:r>
              <a:t>• 7-21 day lab confirmation lag</a:t>
            </a:r>
            <a:br/>
            <a:r>
              <a:t>• English-only web dashboards</a:t>
            </a:r>
            <a:br/>
            <a:r>
              <a:t>• Siloed: Human &amp; Vet separate</a:t>
            </a:r>
          </a:p>
        </p:txBody>
      </p:sp>
      <p:sp>
        <p:nvSpPr>
          <p:cNvPr id="8" name="Rectangle 7"/>
          <p:cNvSpPr/>
          <p:nvPr/>
        </p:nvSpPr>
        <p:spPr>
          <a:xfrm>
            <a:off x="4389120" y="2926080"/>
            <a:ext cx="3413455" cy="3246120"/>
          </a:xfrm>
          <a:prstGeom prst="rect">
            <a:avLst/>
          </a:prstGeom>
          <a:solidFill>
            <a:srgbClr val="0C1E3D"/>
          </a:solidFill>
          <a:ln w="1524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0D4AA"/>
                </a:solidFill>
              </a:defRPr>
            </a:pPr>
            <a:r>
              <a:t>EPIWATCH ONE-HEALTH SHIELD</a:t>
            </a:r>
          </a:p>
          <a:p>
            <a:br/>
            <a:pPr>
              <a:spcBef>
                <a:spcPts val="800"/>
              </a:spcBef>
              <a:defRPr sz="1000">
                <a:solidFill>
                  <a:srgbClr val="C8D7E6"/>
                </a:solidFill>
              </a:defRPr>
            </a:pPr>
            <a:r>
              <a:t>• 4 to 8 week forward ML prediction</a:t>
            </a:r>
            <a:br/>
            <a:r>
              <a:t>• 356 Tehsil / Taluka block grain</a:t>
            </a:r>
            <a:br/>
            <a:r>
              <a:t>• Instant NLP field triage (517 presentations)</a:t>
            </a:r>
            <a:br/>
            <a:r>
              <a:t>• Multilingual Marathi/Hindi IVR (1800-233-0418)</a:t>
            </a:r>
            <a:br/>
            <a:r>
              <a:t>• Unified Human + Animal + Climate</a:t>
            </a:r>
          </a:p>
        </p:txBody>
      </p:sp>
      <p:sp>
        <p:nvSpPr>
          <p:cNvPr id="9" name="Rectangle 8"/>
          <p:cNvSpPr/>
          <p:nvPr/>
        </p:nvSpPr>
        <p:spPr>
          <a:xfrm>
            <a:off x="8046720" y="2926080"/>
            <a:ext cx="3413455" cy="3246120"/>
          </a:xfrm>
          <a:prstGeom prst="rect">
            <a:avLst/>
          </a:prstGeom>
          <a:solidFill>
            <a:srgbClr val="0C1E3D"/>
          </a:solid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D4AF37"/>
                </a:solidFill>
              </a:defRPr>
            </a:pPr>
            <a:r>
              <a:t>MEASURABLE FIELD ADVANTAGE</a:t>
            </a:r>
          </a:p>
          <a:p>
            <a:br/>
            <a:pPr>
              <a:spcBef>
                <a:spcPts val="800"/>
              </a:spcBef>
              <a:defRPr sz="1000">
                <a:solidFill>
                  <a:srgbClr val="C8D7E6"/>
                </a:solidFill>
              </a:defRPr>
            </a:pPr>
            <a:r>
              <a:t>• 6.5-week mean peak shift lead time</a:t>
            </a:r>
            <a:br/>
            <a:r>
              <a:t>• 32.48M cattle + 77.79M poultry covered</a:t>
            </a:r>
            <a:br/>
            <a:r>
              <a:t>• Cold-chain 5-stage lab sample tracking</a:t>
            </a:r>
            <a:br/>
            <a:r>
              <a:t>• Mobile Vet Unit (MVU) route optimization</a:t>
            </a:r>
            <a:br/>
            <a:r>
              <a:t>• AUC 0.96 Farmer OA joint disability tool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46520"/>
            <a:ext cx="10728655" cy="320040"/>
          </a:xfrm>
          <a:prstGeom prst="rect">
            <a:avLst/>
          </a:prstGeom>
          <a:noFill/>
        </p:spPr>
        <p:txBody>
          <a:bodyPr wrap="square">
            <a:spAutoFit/>
          </a:bodyPr>
          <a:lstStyle/>
          <a:p>
            <a:pPr>
              <a:defRPr sz="850">
                <a:solidFill>
                  <a:srgbClr val="8FA3BF"/>
                </a:solidFill>
                <a:latin typeface="Consolas"/>
              </a:defRPr>
            </a:pPr>
            <a:r>
              <a:t>EPIWATCH GRAMRAKSHA + PASHURAKSHA  |  RURAL ONE-HEALTH AI DEFENSE SHIELD  |  CONFIDENTIAL &amp; PROPRIETARY</a:t>
            </a:r>
          </a:p>
        </p:txBody>
      </p:sp>
      <p:sp>
        <p:nvSpPr>
          <p:cNvPr id="4" name="Rectangle 3"/>
          <p:cNvSpPr/>
          <p:nvPr/>
        </p:nvSpPr>
        <p:spPr>
          <a:xfrm>
            <a:off x="731520" y="365760"/>
            <a:ext cx="4114800" cy="292608"/>
          </a:xfrm>
          <a:prstGeom prst="rect">
            <a:avLst/>
          </a:prstGeom>
          <a:solidFill>
            <a:srgbClr val="0C1E3D"/>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D4AA"/>
                </a:solidFill>
                <a:latin typeface="Consolas"/>
              </a:defRPr>
            </a:pPr>
            <a:r>
              <a:t>● SYSTEM ARCHITECTURE  [ARCH-01]</a:t>
            </a:r>
          </a:p>
        </p:txBody>
      </p:sp>
      <p:sp>
        <p:nvSpPr>
          <p:cNvPr id="5" name="TextBox 4"/>
          <p:cNvSpPr txBox="1"/>
          <p:nvPr/>
        </p:nvSpPr>
        <p:spPr>
          <a:xfrm>
            <a:off x="731520" y="713232"/>
            <a:ext cx="10698480" cy="594360"/>
          </a:xfrm>
          <a:prstGeom prst="rect">
            <a:avLst/>
          </a:prstGeom>
          <a:noFill/>
        </p:spPr>
        <p:txBody>
          <a:bodyPr wrap="none">
            <a:spAutoFit/>
          </a:bodyPr>
          <a:lstStyle/>
          <a:p>
            <a:pPr>
              <a:defRPr sz="2200" b="1">
                <a:solidFill>
                  <a:srgbClr val="FFFFFF"/>
                </a:solidFill>
                <a:latin typeface="Segoe UI"/>
              </a:defRPr>
            </a:pPr>
            <a:r>
              <a:t>The 4 Core Pillars of Rural One-Health Architecture</a:t>
            </a:r>
          </a:p>
        </p:txBody>
      </p:sp>
      <p:pic>
        <p:nvPicPr>
          <p:cNvPr id="6" name="Picture 5" descr="chart_architecture.png"/>
          <p:cNvPicPr>
            <a:picLocks noChangeAspect="1"/>
          </p:cNvPicPr>
          <p:nvPr/>
        </p:nvPicPr>
        <p:blipFill>
          <a:blip r:embed="rId2"/>
          <a:stretch>
            <a:fillRect/>
          </a:stretch>
        </p:blipFill>
        <p:spPr>
          <a:xfrm>
            <a:off x="731520" y="1463040"/>
            <a:ext cx="10728655" cy="482789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46520"/>
            <a:ext cx="10728655" cy="320040"/>
          </a:xfrm>
          <a:prstGeom prst="rect">
            <a:avLst/>
          </a:prstGeom>
          <a:noFill/>
        </p:spPr>
        <p:txBody>
          <a:bodyPr wrap="square">
            <a:spAutoFit/>
          </a:bodyPr>
          <a:lstStyle/>
          <a:p>
            <a:pPr>
              <a:defRPr sz="850">
                <a:solidFill>
                  <a:srgbClr val="8FA3BF"/>
                </a:solidFill>
                <a:latin typeface="Consolas"/>
              </a:defRPr>
            </a:pPr>
            <a:r>
              <a:t>EPIWATCH GRAMRAKSHA + PASHURAKSHA  |  RURAL ONE-HEALTH AI DEFENSE SHIELD  |  CONFIDENTIAL &amp; PROPRIETARY</a:t>
            </a:r>
          </a:p>
        </p:txBody>
      </p:sp>
      <p:sp>
        <p:nvSpPr>
          <p:cNvPr id="4" name="Rectangle 3"/>
          <p:cNvSpPr/>
          <p:nvPr/>
        </p:nvSpPr>
        <p:spPr>
          <a:xfrm>
            <a:off x="731520" y="365760"/>
            <a:ext cx="4114800" cy="292608"/>
          </a:xfrm>
          <a:prstGeom prst="rect">
            <a:avLst/>
          </a:prstGeom>
          <a:solidFill>
            <a:srgbClr val="0C1E3D"/>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D4AA"/>
                </a:solidFill>
                <a:latin typeface="Consolas"/>
              </a:defRPr>
            </a:pPr>
            <a:r>
              <a:t>● PASHURAKSHA ML  [LIV-01]</a:t>
            </a:r>
          </a:p>
        </p:txBody>
      </p:sp>
      <p:sp>
        <p:nvSpPr>
          <p:cNvPr id="5" name="TextBox 4"/>
          <p:cNvSpPr txBox="1"/>
          <p:nvPr/>
        </p:nvSpPr>
        <p:spPr>
          <a:xfrm>
            <a:off x="731520" y="713232"/>
            <a:ext cx="10698480" cy="594360"/>
          </a:xfrm>
          <a:prstGeom prst="rect">
            <a:avLst/>
          </a:prstGeom>
          <a:noFill/>
        </p:spPr>
        <p:txBody>
          <a:bodyPr wrap="none">
            <a:spAutoFit/>
          </a:bodyPr>
          <a:lstStyle/>
          <a:p>
            <a:pPr>
              <a:defRPr sz="2200" b="1">
                <a:solidFill>
                  <a:srgbClr val="FFFFFF"/>
                </a:solidFill>
                <a:latin typeface="Segoe UI"/>
              </a:defRPr>
            </a:pPr>
            <a:r>
              <a:t>Pillar 1: PashuRaksha — Livestock Defense Across 356 Tehsils</a:t>
            </a:r>
          </a:p>
        </p:txBody>
      </p:sp>
      <p:sp>
        <p:nvSpPr>
          <p:cNvPr id="6" name="Rectangle 5"/>
          <p:cNvSpPr/>
          <p:nvPr/>
        </p:nvSpPr>
        <p:spPr>
          <a:xfrm>
            <a:off x="731520" y="1463040"/>
            <a:ext cx="4937760" cy="4709160"/>
          </a:xfrm>
          <a:prstGeom prst="rect">
            <a:avLst/>
          </a:prstGeom>
          <a:solidFill>
            <a:srgbClr val="0C1E3D"/>
          </a:solidFill>
          <a:ln>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D4AF37"/>
                </a:solidFill>
              </a:defRPr>
            </a:pPr>
            <a:r>
              <a:t>🐄 National MOSPI + 356 Block Mapping</a:t>
            </a:r>
          </a:p>
          <a:p>
            <a:br/>
            <a:pPr>
              <a:defRPr sz="1050" b="1">
                <a:solidFill>
                  <a:srgbClr val="FFFFFF"/>
                </a:solidFill>
              </a:defRPr>
            </a:pPr>
            <a:r>
              <a:t>• 11-Year National MOSPI Dataset (2005–2015)</a:t>
            </a:r>
          </a:p>
          <a:p>
            <a:pPr>
              <a:defRPr sz="900">
                <a:solidFill>
                  <a:srgbClr val="C8D7E6"/>
                </a:solidFill>
              </a:defRPr>
            </a:pPr>
            <a:r>
              <a:t>Trained 111 ensemble ML models across 37 livestock diseases forecasting Attacks, Outbreaks, and Deaths through 2026.</a:t>
            </a:r>
          </a:p>
          <a:p>
            <a:br/>
            <a:pPr>
              <a:defRPr sz="1050" b="1">
                <a:solidFill>
                  <a:srgbClr val="FFFFFF"/>
                </a:solidFill>
              </a:defRPr>
            </a:pPr>
            <a:r>
              <a:t>• 356 Maharashtra Tehsils &amp; 34 Districts</a:t>
            </a:r>
          </a:p>
          <a:p>
            <a:pPr>
              <a:defRPr sz="900">
                <a:solidFill>
                  <a:srgbClr val="C8D7E6"/>
                </a:solidFill>
              </a:defRPr>
            </a:pPr>
            <a:r>
              <a:t>Ingested official 19th Livestock Census: 32.48M livestock (7.82M indigenous, 3.95M crossbred, 5.59M buffaloes, 15.12M goats/sheep) and 77.79M backyard poultry.</a:t>
            </a:r>
          </a:p>
          <a:p>
            <a:br/>
            <a:pPr>
              <a:defRPr sz="1050" b="1">
                <a:solidFill>
                  <a:srgbClr val="FFFFFF"/>
                </a:solidFill>
              </a:defRPr>
            </a:pPr>
            <a:r>
              <a:t>• 44 District-Calibrated Models</a:t>
            </a:r>
          </a:p>
          <a:p>
            <a:pPr>
              <a:defRPr sz="900">
                <a:solidFill>
                  <a:srgbClr val="C8D7E6"/>
                </a:solidFill>
              </a:defRPr>
            </a:pPr>
            <a:r>
              <a:t>Fine-tuned models for priority economic threats: Foot-and-Mouth (FMD), Lumpy Skin Disease (LSD), PPR (Goat Plague), Anthrax, and Avian Influenza.</a:t>
            </a:r>
          </a:p>
          <a:p>
            <a:br/>
            <a:pPr>
              <a:defRPr sz="1050" b="1">
                <a:solidFill>
                  <a:srgbClr val="FFFFFF"/>
                </a:solidFill>
              </a:defRPr>
            </a:pPr>
            <a:r>
              <a:t>• Dynamic Mobile Veterinary Unit (MVU) Routing</a:t>
            </a:r>
          </a:p>
          <a:p>
            <a:pPr>
              <a:defRPr sz="900">
                <a:solidFill>
                  <a:srgbClr val="C8D7E6"/>
                </a:solidFill>
              </a:defRPr>
            </a:pPr>
            <a:r>
              <a:t>Vulnerability scoring pinpoints talukas at imminent risk, directing government mobile ambulances directly to vulnerable herds.</a:t>
            </a:r>
          </a:p>
        </p:txBody>
      </p:sp>
      <p:pic>
        <p:nvPicPr>
          <p:cNvPr id="7" name="Picture 6" descr="chart_pashuraksha_ml.png"/>
          <p:cNvPicPr>
            <a:picLocks noChangeAspect="1"/>
          </p:cNvPicPr>
          <p:nvPr/>
        </p:nvPicPr>
        <p:blipFill>
          <a:blip r:embed="rId2"/>
          <a:stretch>
            <a:fillRect/>
          </a:stretch>
        </p:blipFill>
        <p:spPr>
          <a:xfrm>
            <a:off x="5852160" y="1463040"/>
            <a:ext cx="5608015" cy="252360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46520"/>
            <a:ext cx="10728655" cy="320040"/>
          </a:xfrm>
          <a:prstGeom prst="rect">
            <a:avLst/>
          </a:prstGeom>
          <a:noFill/>
        </p:spPr>
        <p:txBody>
          <a:bodyPr wrap="square">
            <a:spAutoFit/>
          </a:bodyPr>
          <a:lstStyle/>
          <a:p>
            <a:pPr>
              <a:defRPr sz="850">
                <a:solidFill>
                  <a:srgbClr val="8FA3BF"/>
                </a:solidFill>
                <a:latin typeface="Consolas"/>
              </a:defRPr>
            </a:pPr>
            <a:r>
              <a:t>EPIWATCH GRAMRAKSHA + PASHURAKSHA  |  RURAL ONE-HEALTH AI DEFENSE SHIELD  |  CONFIDENTIAL &amp; PROPRIETARY</a:t>
            </a:r>
          </a:p>
        </p:txBody>
      </p:sp>
      <p:sp>
        <p:nvSpPr>
          <p:cNvPr id="4" name="Rectangle 3"/>
          <p:cNvSpPr/>
          <p:nvPr/>
        </p:nvSpPr>
        <p:spPr>
          <a:xfrm>
            <a:off x="731520" y="365760"/>
            <a:ext cx="4114800" cy="292608"/>
          </a:xfrm>
          <a:prstGeom prst="rect">
            <a:avLst/>
          </a:prstGeom>
          <a:solidFill>
            <a:srgbClr val="0C1E3D"/>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D4AA"/>
                </a:solidFill>
                <a:latin typeface="Consolas"/>
              </a:defRPr>
            </a:pPr>
            <a:r>
              <a:t>● CLIMATE TELEMETRY  [CLI-01]</a:t>
            </a:r>
          </a:p>
        </p:txBody>
      </p:sp>
      <p:sp>
        <p:nvSpPr>
          <p:cNvPr id="5" name="TextBox 4"/>
          <p:cNvSpPr txBox="1"/>
          <p:nvPr/>
        </p:nvSpPr>
        <p:spPr>
          <a:xfrm>
            <a:off x="731520" y="713232"/>
            <a:ext cx="10698480" cy="594360"/>
          </a:xfrm>
          <a:prstGeom prst="rect">
            <a:avLst/>
          </a:prstGeom>
          <a:noFill/>
        </p:spPr>
        <p:txBody>
          <a:bodyPr wrap="none">
            <a:spAutoFit/>
          </a:bodyPr>
          <a:lstStyle/>
          <a:p>
            <a:pPr>
              <a:defRPr sz="2200" b="1">
                <a:solidFill>
                  <a:srgbClr val="FFFFFF"/>
                </a:solidFill>
                <a:latin typeface="Segoe UI"/>
              </a:defRPr>
            </a:pPr>
            <a:r>
              <a:t>Pillar 2: Monsoon Waterborne &amp; Vector Epidemic Early Warning</a:t>
            </a:r>
          </a:p>
        </p:txBody>
      </p:sp>
      <p:sp>
        <p:nvSpPr>
          <p:cNvPr id="6" name="Rectangle 5"/>
          <p:cNvSpPr/>
          <p:nvPr/>
        </p:nvSpPr>
        <p:spPr>
          <a:xfrm>
            <a:off x="731520" y="1463040"/>
            <a:ext cx="4937760" cy="4709160"/>
          </a:xfrm>
          <a:prstGeom prst="rect">
            <a:avLst/>
          </a:prstGeom>
          <a:solidFill>
            <a:srgbClr val="0C1E3D"/>
          </a:solidFill>
          <a:ln>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F0FF"/>
                </a:solidFill>
              </a:defRPr>
            </a:pPr>
            <a:r>
              <a:t>🛰️ Satellite Climate Lags &amp; Dual ML</a:t>
            </a:r>
          </a:p>
          <a:p>
            <a:br/>
            <a:pPr>
              <a:defRPr sz="1050" b="1">
                <a:solidFill>
                  <a:srgbClr val="FFFFFF"/>
                </a:solidFill>
              </a:defRPr>
            </a:pPr>
            <a:r>
              <a:t>• NASA POWER Climate Telemetry</a:t>
            </a:r>
          </a:p>
          <a:p>
            <a:pPr>
              <a:defRPr sz="900">
                <a:solidFill>
                  <a:srgbClr val="C8D7E6"/>
                </a:solidFill>
              </a:defRPr>
            </a:pPr>
            <a:r>
              <a:t>Ingests weekly precipitation spikes, surface temperature, specific humidity, and flood index telemetry across rural blocks.</a:t>
            </a:r>
          </a:p>
          <a:p>
            <a:br/>
            <a:pPr>
              <a:defRPr sz="1050" b="1">
                <a:solidFill>
                  <a:srgbClr val="FFFFFF"/>
                </a:solidFill>
              </a:defRPr>
            </a:pPr>
            <a:r>
              <a:t>• The 4-to-8 Week Biological Lag</a:t>
            </a:r>
          </a:p>
          <a:p>
            <a:pPr>
              <a:defRPr sz="900">
                <a:solidFill>
                  <a:srgbClr val="C8D7E6"/>
                </a:solidFill>
              </a:defRPr>
            </a:pPr>
            <a:r>
              <a:t>Heavy rain contaminates open village wells (causing Acute Diarrheal Disease) and creates stagnant pools for vector breeding (Malaria/Dengue). Cases surge 6–8 weeks post-rain.</a:t>
            </a:r>
          </a:p>
          <a:p>
            <a:br/>
            <a:pPr>
              <a:defRPr sz="1050" b="1">
                <a:solidFill>
                  <a:srgbClr val="FFFFFF"/>
                </a:solidFill>
              </a:defRPr>
            </a:pPr>
            <a:r>
              <a:t>• Dual-Tier ML Architecture</a:t>
            </a:r>
          </a:p>
          <a:p>
            <a:pPr>
              <a:defRPr sz="900">
                <a:solidFill>
                  <a:srgbClr val="C8D7E6"/>
                </a:solidFill>
              </a:defRPr>
            </a:pPr>
            <a:r>
              <a:t>Combines HistGradientBoostingRegressor baseline with XGBoost climate residual corrections, achieving 6.5-week mean peak shift lead time.</a:t>
            </a:r>
          </a:p>
          <a:p>
            <a:br/>
            <a:pPr>
              <a:defRPr sz="1050" b="1">
                <a:solidFill>
                  <a:srgbClr val="FFFFFF"/>
                </a:solidFill>
              </a:defRPr>
            </a:pPr>
            <a:r>
              <a:t>• PHC Buffer Stocking Action</a:t>
            </a:r>
          </a:p>
          <a:p>
            <a:pPr>
              <a:defRPr sz="900">
                <a:solidFill>
                  <a:srgbClr val="C8D7E6"/>
                </a:solidFill>
              </a:defRPr>
            </a:pPr>
            <a:r>
              <a:t>Allows Primary Health Centres to pre-position Oral Rehydration Salts (ORS), pediatric IV drips, chloroquine, and vector fogging gear prior to monsoon peaks.</a:t>
            </a:r>
          </a:p>
        </p:txBody>
      </p:sp>
      <p:pic>
        <p:nvPicPr>
          <p:cNvPr id="7" name="Picture 6" descr="chart_climate_forecasting.png"/>
          <p:cNvPicPr>
            <a:picLocks noChangeAspect="1"/>
          </p:cNvPicPr>
          <p:nvPr/>
        </p:nvPicPr>
        <p:blipFill>
          <a:blip r:embed="rId2"/>
          <a:stretch>
            <a:fillRect/>
          </a:stretch>
        </p:blipFill>
        <p:spPr>
          <a:xfrm>
            <a:off x="5852160" y="1463040"/>
            <a:ext cx="5608015" cy="252360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46520"/>
            <a:ext cx="10728655" cy="320040"/>
          </a:xfrm>
          <a:prstGeom prst="rect">
            <a:avLst/>
          </a:prstGeom>
          <a:noFill/>
        </p:spPr>
        <p:txBody>
          <a:bodyPr wrap="square">
            <a:spAutoFit/>
          </a:bodyPr>
          <a:lstStyle/>
          <a:p>
            <a:pPr>
              <a:defRPr sz="850">
                <a:solidFill>
                  <a:srgbClr val="8FA3BF"/>
                </a:solidFill>
                <a:latin typeface="Consolas"/>
              </a:defRPr>
            </a:pPr>
            <a:r>
              <a:t>EPIWATCH GRAMRAKSHA + PASHURAKSHA  |  RURAL ONE-HEALTH AI DEFENSE SHIELD  |  CONFIDENTIAL &amp; PROPRIETARY</a:t>
            </a:r>
          </a:p>
        </p:txBody>
      </p:sp>
      <p:sp>
        <p:nvSpPr>
          <p:cNvPr id="4" name="Rectangle 3"/>
          <p:cNvSpPr/>
          <p:nvPr/>
        </p:nvSpPr>
        <p:spPr>
          <a:xfrm>
            <a:off x="731520" y="365760"/>
            <a:ext cx="4114800" cy="292608"/>
          </a:xfrm>
          <a:prstGeom prst="rect">
            <a:avLst/>
          </a:prstGeom>
          <a:solidFill>
            <a:srgbClr val="0C1E3D"/>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D4AA"/>
                </a:solidFill>
                <a:latin typeface="Consolas"/>
              </a:defRPr>
            </a:pPr>
            <a:r>
              <a:t>● GRASSROOTS INTAKE  [FLD-01]</a:t>
            </a:r>
          </a:p>
        </p:txBody>
      </p:sp>
      <p:sp>
        <p:nvSpPr>
          <p:cNvPr id="5" name="TextBox 4"/>
          <p:cNvSpPr txBox="1"/>
          <p:nvPr/>
        </p:nvSpPr>
        <p:spPr>
          <a:xfrm>
            <a:off x="731520" y="713232"/>
            <a:ext cx="10698480" cy="594360"/>
          </a:xfrm>
          <a:prstGeom prst="rect">
            <a:avLst/>
          </a:prstGeom>
          <a:noFill/>
        </p:spPr>
        <p:txBody>
          <a:bodyPr wrap="none">
            <a:spAutoFit/>
          </a:bodyPr>
          <a:lstStyle/>
          <a:p>
            <a:pPr>
              <a:defRPr sz="2200" b="1">
                <a:solidFill>
                  <a:srgbClr val="FFFFFF"/>
                </a:solidFill>
                <a:latin typeface="Segoe UI"/>
              </a:defRPr>
            </a:pPr>
            <a:r>
              <a:t>Pillar 3: Empowering Pashu Sakhis &amp; 5-Stage Lab Pipeline</a:t>
            </a:r>
          </a:p>
        </p:txBody>
      </p:sp>
      <p:sp>
        <p:nvSpPr>
          <p:cNvPr id="6" name="Rectangle 5"/>
          <p:cNvSpPr/>
          <p:nvPr/>
        </p:nvSpPr>
        <p:spPr>
          <a:xfrm>
            <a:off x="731520" y="1463040"/>
            <a:ext cx="3413455" cy="4709160"/>
          </a:xfrm>
          <a:prstGeom prst="rect">
            <a:avLst/>
          </a:prstGeom>
          <a:solidFill>
            <a:srgbClr val="0C1E3D"/>
          </a:solidFill>
          <a:ln w="1524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D4AA"/>
                </a:solidFill>
              </a:defRPr>
            </a:pPr>
            <a:r>
              <a:t>📱 PASHU SAKHI FIELD APP</a:t>
            </a:r>
          </a:p>
          <a:p>
            <a:br/>
            <a:pPr>
              <a:spcBef>
                <a:spcPts val="1000"/>
              </a:spcBef>
              <a:defRPr sz="1050">
                <a:solidFill>
                  <a:srgbClr val="C8D7E6"/>
                </a:solidFill>
              </a:defRPr>
            </a:pPr>
            <a:r>
              <a:t>• Instant NLP Clinical Triage</a:t>
            </a:r>
            <a:br/>
            <a:r>
              <a:t>• Trained on 517 clinical presentations</a:t>
            </a:r>
            <a:br/>
            <a:r>
              <a:t>• Confidence score + Severity rating</a:t>
            </a:r>
            <a:br/>
            <a:r>
              <a:t>• Recommended quarantine &amp; first aid</a:t>
            </a:r>
            <a:br/>
            <a:r>
              <a:t>• Works offline in remote hamlets</a:t>
            </a:r>
          </a:p>
        </p:txBody>
      </p:sp>
      <p:sp>
        <p:nvSpPr>
          <p:cNvPr id="7" name="Rectangle 6"/>
          <p:cNvSpPr/>
          <p:nvPr/>
        </p:nvSpPr>
        <p:spPr>
          <a:xfrm>
            <a:off x="4389120" y="1463040"/>
            <a:ext cx="3413455" cy="4709160"/>
          </a:xfrm>
          <a:prstGeom prst="rect">
            <a:avLst/>
          </a:prstGeom>
          <a:solidFill>
            <a:srgbClr val="0C1E3D"/>
          </a:solid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D4AF37"/>
                </a:solidFill>
              </a:defRPr>
            </a:pPr>
            <a:r>
              <a:t>📞 VERNACULAR IVR HELPLINE</a:t>
            </a:r>
          </a:p>
          <a:p>
            <a:br/>
            <a:pPr>
              <a:spcBef>
                <a:spcPts val="1000"/>
              </a:spcBef>
              <a:defRPr sz="1050">
                <a:solidFill>
                  <a:srgbClr val="C8D7E6"/>
                </a:solidFill>
              </a:defRPr>
            </a:pPr>
            <a:r>
              <a:t>• Toll-Free: 1800-233-0418</a:t>
            </a:r>
            <a:br/>
            <a:r>
              <a:t>• Voice intake in Marathi, Hindi &amp; English</a:t>
            </a:r>
            <a:br/>
            <a:r>
              <a:t>• Zero-smartphone barrier for farmers</a:t>
            </a:r>
            <a:br/>
            <a:r>
              <a:t>• Automated speech-to-text NLP parsing</a:t>
            </a:r>
            <a:br/>
            <a:r>
              <a:t>• SMS broadcast alerts to village clusters</a:t>
            </a:r>
          </a:p>
        </p:txBody>
      </p:sp>
      <p:sp>
        <p:nvSpPr>
          <p:cNvPr id="8" name="Rectangle 7"/>
          <p:cNvSpPr/>
          <p:nvPr/>
        </p:nvSpPr>
        <p:spPr>
          <a:xfrm>
            <a:off x="8046720" y="1463040"/>
            <a:ext cx="3413455" cy="4709160"/>
          </a:xfrm>
          <a:prstGeom prst="rect">
            <a:avLst/>
          </a:prstGeom>
          <a:solidFill>
            <a:srgbClr val="0C1E3D"/>
          </a:solidFill>
          <a:ln w="15240">
            <a:solidFill>
              <a:srgbClr val="FF525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5252"/>
                </a:solidFill>
              </a:defRPr>
            </a:pPr>
            <a:r>
              <a:t>🔬 5-STAGE COLD-CHAIN LAB</a:t>
            </a:r>
          </a:p>
          <a:p>
            <a:br/>
            <a:pPr>
              <a:spcBef>
                <a:spcPts val="1000"/>
              </a:spcBef>
              <a:defRPr sz="1050">
                <a:solidFill>
                  <a:srgbClr val="C8D7E6"/>
                </a:solidFill>
              </a:defRPr>
            </a:pPr>
            <a:r>
              <a:t>1. Village Sample Collection</a:t>
            </a:r>
            <a:br/>
            <a:r>
              <a:t>2. Temperature-Controlled Transport</a:t>
            </a:r>
            <a:br/>
            <a:r>
              <a:t>3. District Lab Processing</a:t>
            </a:r>
            <a:br/>
            <a:r>
              <a:t>4. Diagnostic Confirmation</a:t>
            </a:r>
            <a:br/>
            <a:r>
              <a:t>5. Automated Taluka Outbreak Alert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46520"/>
            <a:ext cx="10728655" cy="320040"/>
          </a:xfrm>
          <a:prstGeom prst="rect">
            <a:avLst/>
          </a:prstGeom>
          <a:noFill/>
        </p:spPr>
        <p:txBody>
          <a:bodyPr wrap="square">
            <a:spAutoFit/>
          </a:bodyPr>
          <a:lstStyle/>
          <a:p>
            <a:pPr>
              <a:defRPr sz="850">
                <a:solidFill>
                  <a:srgbClr val="8FA3BF"/>
                </a:solidFill>
                <a:latin typeface="Consolas"/>
              </a:defRPr>
            </a:pPr>
            <a:r>
              <a:t>EPIWATCH GRAMRAKSHA + PASHURAKSHA  |  RURAL ONE-HEALTH AI DEFENSE SHIELD  |  CONFIDENTIAL &amp; PROPRIETARY</a:t>
            </a:r>
          </a:p>
        </p:txBody>
      </p:sp>
      <p:sp>
        <p:nvSpPr>
          <p:cNvPr id="4" name="Rectangle 3"/>
          <p:cNvSpPr/>
          <p:nvPr/>
        </p:nvSpPr>
        <p:spPr>
          <a:xfrm>
            <a:off x="731520" y="365760"/>
            <a:ext cx="4114800" cy="292608"/>
          </a:xfrm>
          <a:prstGeom prst="rect">
            <a:avLst/>
          </a:prstGeom>
          <a:solidFill>
            <a:srgbClr val="0C1E3D"/>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D4AA"/>
                </a:solidFill>
                <a:latin typeface="Consolas"/>
              </a:defRPr>
            </a:pPr>
            <a:r>
              <a:t>● OCCUPATIONAL HEALTH  [OA-01]</a:t>
            </a:r>
          </a:p>
        </p:txBody>
      </p:sp>
      <p:sp>
        <p:nvSpPr>
          <p:cNvPr id="5" name="TextBox 4"/>
          <p:cNvSpPr txBox="1"/>
          <p:nvPr/>
        </p:nvSpPr>
        <p:spPr>
          <a:xfrm>
            <a:off x="731520" y="713232"/>
            <a:ext cx="10698480" cy="594360"/>
          </a:xfrm>
          <a:prstGeom prst="rect">
            <a:avLst/>
          </a:prstGeom>
          <a:noFill/>
        </p:spPr>
        <p:txBody>
          <a:bodyPr wrap="none">
            <a:spAutoFit/>
          </a:bodyPr>
          <a:lstStyle/>
          <a:p>
            <a:pPr>
              <a:defRPr sz="2200" b="1">
                <a:solidFill>
                  <a:srgbClr val="FFFFFF"/>
                </a:solidFill>
                <a:latin typeface="Segoe UI"/>
              </a:defRPr>
            </a:pPr>
            <a:r>
              <a:t>Pillar 4: SwasthSandhi — Farmer Musculoskeletal Screening</a:t>
            </a:r>
          </a:p>
        </p:txBody>
      </p:sp>
      <p:sp>
        <p:nvSpPr>
          <p:cNvPr id="6" name="Rectangle 5"/>
          <p:cNvSpPr/>
          <p:nvPr/>
        </p:nvSpPr>
        <p:spPr>
          <a:xfrm>
            <a:off x="731520" y="1463040"/>
            <a:ext cx="4937760" cy="4709160"/>
          </a:xfrm>
          <a:prstGeom prst="rect">
            <a:avLst/>
          </a:prstGeom>
          <a:solidFill>
            <a:srgbClr val="0C1E3D"/>
          </a:solidFill>
          <a:ln>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4FC3F7"/>
                </a:solidFill>
              </a:defRPr>
            </a:pPr>
            <a:r>
              <a:t>🦵 Agricultural Occupational Joint Care</a:t>
            </a:r>
          </a:p>
          <a:p>
            <a:br/>
            <a:pPr>
              <a:defRPr sz="1050" b="1">
                <a:solidFill>
                  <a:srgbClr val="FFFFFF"/>
                </a:solidFill>
              </a:defRPr>
            </a:pPr>
            <a:r>
              <a:t>• The Invisible Rural Epidemic</a:t>
            </a:r>
          </a:p>
          <a:p>
            <a:pPr>
              <a:defRPr sz="900">
                <a:solidFill>
                  <a:srgbClr val="C8D7E6"/>
                </a:solidFill>
              </a:defRPr>
            </a:pPr>
            <a:r>
              <a:t>Millions of paddy transplanting and agricultural laborers suffer from chronic Knee Osteoarthritis due to decades of bending and load carrying, with zero screening access.</a:t>
            </a:r>
          </a:p>
          <a:p>
            <a:br/>
            <a:pPr>
              <a:defRPr sz="1050" b="1">
                <a:solidFill>
                  <a:srgbClr val="FFFFFF"/>
                </a:solidFill>
              </a:defRPr>
            </a:pPr>
            <a:r>
              <a:t>• Digital WOMAC Functional Assessment</a:t>
            </a:r>
          </a:p>
          <a:p>
            <a:pPr>
              <a:defRPr sz="900">
                <a:solidFill>
                  <a:srgbClr val="C8D7E6"/>
                </a:solidFill>
              </a:defRPr>
            </a:pPr>
            <a:r>
              <a:t>Calculates standardized WOMAC pain, stiffness, and physical disability scores through a simplified pictorial interface for rural health workers.</a:t>
            </a:r>
          </a:p>
          <a:p>
            <a:br/>
            <a:pPr>
              <a:defRPr sz="1050" b="1">
                <a:solidFill>
                  <a:srgbClr val="FFFFFF"/>
                </a:solidFill>
              </a:defRPr>
            </a:pPr>
            <a:r>
              <a:t>• Gradient-Boosted ML Classifier (AUC 0.96)</a:t>
            </a:r>
          </a:p>
          <a:p>
            <a:pPr>
              <a:defRPr sz="900">
                <a:solidFill>
                  <a:srgbClr val="C8D7E6"/>
                </a:solidFill>
              </a:defRPr>
            </a:pPr>
            <a:r>
              <a:t>High-precision classifier categorizes risk into Low, Moderate, High, and Severe with actionable ergonomic recommendations.</a:t>
            </a:r>
          </a:p>
          <a:p>
            <a:br/>
            <a:pPr>
              <a:defRPr sz="1050" b="1">
                <a:solidFill>
                  <a:srgbClr val="FFFFFF"/>
                </a:solidFill>
              </a:defRPr>
            </a:pPr>
            <a:r>
              <a:t>• Community Health Camp Integration</a:t>
            </a:r>
          </a:p>
          <a:p>
            <a:pPr>
              <a:defRPr sz="900">
                <a:solidFill>
                  <a:srgbClr val="C8D7E6"/>
                </a:solidFill>
              </a:defRPr>
            </a:pPr>
            <a:r>
              <a:t>Enables ASHA workers to triage farm workers during routine village camps, preventing irreversible joint deformities.</a:t>
            </a:r>
          </a:p>
        </p:txBody>
      </p:sp>
      <p:pic>
        <p:nvPicPr>
          <p:cNvPr id="7" name="Picture 6" descr="chart_womac_oa.png"/>
          <p:cNvPicPr>
            <a:picLocks noChangeAspect="1"/>
          </p:cNvPicPr>
          <p:nvPr/>
        </p:nvPicPr>
        <p:blipFill>
          <a:blip r:embed="rId2"/>
          <a:stretch>
            <a:fillRect/>
          </a:stretch>
        </p:blipFill>
        <p:spPr>
          <a:xfrm>
            <a:off x="5852160" y="1463040"/>
            <a:ext cx="5608015" cy="252360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46520"/>
            <a:ext cx="10728655" cy="320040"/>
          </a:xfrm>
          <a:prstGeom prst="rect">
            <a:avLst/>
          </a:prstGeom>
          <a:noFill/>
        </p:spPr>
        <p:txBody>
          <a:bodyPr wrap="square">
            <a:spAutoFit/>
          </a:bodyPr>
          <a:lstStyle/>
          <a:p>
            <a:pPr>
              <a:defRPr sz="850">
                <a:solidFill>
                  <a:srgbClr val="8FA3BF"/>
                </a:solidFill>
                <a:latin typeface="Consolas"/>
              </a:defRPr>
            </a:pPr>
            <a:r>
              <a:t>EPIWATCH GRAMRAKSHA + PASHURAKSHA  |  RURAL ONE-HEALTH AI DEFENSE SHIELD  |  CONFIDENTIAL &amp; PROPRIETARY</a:t>
            </a:r>
          </a:p>
        </p:txBody>
      </p:sp>
      <p:sp>
        <p:nvSpPr>
          <p:cNvPr id="4" name="Rectangle 3"/>
          <p:cNvSpPr/>
          <p:nvPr/>
        </p:nvSpPr>
        <p:spPr>
          <a:xfrm>
            <a:off x="731520" y="365760"/>
            <a:ext cx="4114800" cy="292608"/>
          </a:xfrm>
          <a:prstGeom prst="rect">
            <a:avLst/>
          </a:prstGeom>
          <a:solidFill>
            <a:srgbClr val="0C1E3D"/>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D4AA"/>
                </a:solidFill>
                <a:latin typeface="Consolas"/>
              </a:defRPr>
            </a:pPr>
            <a:r>
              <a:t>● EXECUTION PLAN  [OPS-01]</a:t>
            </a:r>
          </a:p>
        </p:txBody>
      </p:sp>
      <p:sp>
        <p:nvSpPr>
          <p:cNvPr id="5" name="TextBox 4"/>
          <p:cNvSpPr txBox="1"/>
          <p:nvPr/>
        </p:nvSpPr>
        <p:spPr>
          <a:xfrm>
            <a:off x="731520" y="713232"/>
            <a:ext cx="10698480" cy="594360"/>
          </a:xfrm>
          <a:prstGeom prst="rect">
            <a:avLst/>
          </a:prstGeom>
          <a:noFill/>
        </p:spPr>
        <p:txBody>
          <a:bodyPr wrap="none">
            <a:spAutoFit/>
          </a:bodyPr>
          <a:lstStyle/>
          <a:p>
            <a:pPr>
              <a:defRPr sz="2200" b="1">
                <a:solidFill>
                  <a:srgbClr val="FFFFFF"/>
                </a:solidFill>
                <a:latin typeface="Segoe UI"/>
              </a:defRPr>
            </a:pPr>
            <a:r>
              <a:t>Operational Workflow: From Satellite Trigger to Field Action</a:t>
            </a:r>
          </a:p>
        </p:txBody>
      </p:sp>
      <p:sp>
        <p:nvSpPr>
          <p:cNvPr id="6" name="Rectangle 5"/>
          <p:cNvSpPr/>
          <p:nvPr/>
        </p:nvSpPr>
        <p:spPr>
          <a:xfrm>
            <a:off x="731520" y="1463040"/>
            <a:ext cx="1965960" cy="4709160"/>
          </a:xfrm>
          <a:prstGeom prst="rect">
            <a:avLst/>
          </a:prstGeom>
          <a:solidFill>
            <a:srgbClr val="0C1E3D"/>
          </a:solidFill>
          <a:ln w="1905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4FC3F7"/>
                </a:solidFill>
              </a:defRPr>
            </a:pPr>
            <a:r>
              <a:t>DAY 0</a:t>
            </a:r>
            <a:br/>
            <a:r>
              <a:t>🛰️ SATELLITE TRIGGER</a:t>
            </a:r>
          </a:p>
          <a:p>
            <a:br/>
            <a:br/>
            <a:pPr>
              <a:spcBef>
                <a:spcPts val="1000"/>
              </a:spcBef>
              <a:defRPr sz="950">
                <a:solidFill>
                  <a:srgbClr val="FFFFFF"/>
                </a:solidFill>
              </a:defRPr>
            </a:pPr>
            <a:r>
              <a:t>NASA POWER detects 140mm rainfall spike &amp; humidity anomaly across block.</a:t>
            </a:r>
          </a:p>
        </p:txBody>
      </p:sp>
      <p:sp>
        <p:nvSpPr>
          <p:cNvPr id="7" name="Rectangle 6"/>
          <p:cNvSpPr/>
          <p:nvPr/>
        </p:nvSpPr>
        <p:spPr>
          <a:xfrm>
            <a:off x="2926080" y="1463040"/>
            <a:ext cx="1965960" cy="4709160"/>
          </a:xfrm>
          <a:prstGeom prst="rect">
            <a:avLst/>
          </a:prstGeom>
          <a:solidFill>
            <a:srgbClr val="0C1E3D"/>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0F0FF"/>
                </a:solidFill>
              </a:defRPr>
            </a:pPr>
            <a:r>
              <a:t>WEEK 1</a:t>
            </a:r>
            <a:br/>
            <a:r>
              <a:t>🤖 AI FORECAST</a:t>
            </a:r>
          </a:p>
          <a:p>
            <a:br/>
            <a:br/>
            <a:pPr>
              <a:spcBef>
                <a:spcPts val="1000"/>
              </a:spcBef>
              <a:defRPr sz="950">
                <a:solidFill>
                  <a:srgbClr val="FFFFFF"/>
                </a:solidFill>
              </a:defRPr>
            </a:pPr>
            <a:r>
              <a:t>Dual-tier ML flags Tehsil as 'High Risk' (6.5 weeks ahead of peak).</a:t>
            </a:r>
          </a:p>
        </p:txBody>
      </p:sp>
      <p:sp>
        <p:nvSpPr>
          <p:cNvPr id="8" name="Rectangle 7"/>
          <p:cNvSpPr/>
          <p:nvPr/>
        </p:nvSpPr>
        <p:spPr>
          <a:xfrm>
            <a:off x="5120640" y="1463040"/>
            <a:ext cx="1965960" cy="4709160"/>
          </a:xfrm>
          <a:prstGeom prst="rect">
            <a:avLst/>
          </a:prstGeom>
          <a:solidFill>
            <a:srgbClr val="0C1E3D"/>
          </a:solidFill>
          <a:ln w="1905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0D4AA"/>
                </a:solidFill>
              </a:defRPr>
            </a:pPr>
            <a:r>
              <a:t>WEEK 2</a:t>
            </a:r>
            <a:br/>
            <a:r>
              <a:t>🚑 PROACTIVE MVU</a:t>
            </a:r>
          </a:p>
          <a:p>
            <a:br/>
            <a:br/>
            <a:pPr>
              <a:spcBef>
                <a:spcPts val="1000"/>
              </a:spcBef>
              <a:defRPr sz="950">
                <a:solidFill>
                  <a:srgbClr val="FFFFFF"/>
                </a:solidFill>
              </a:defRPr>
            </a:pPr>
            <a:r>
              <a:t>Mobile Veterinary Unit &amp; vector fogging units pre-dispatched to block.</a:t>
            </a:r>
          </a:p>
        </p:txBody>
      </p:sp>
      <p:sp>
        <p:nvSpPr>
          <p:cNvPr id="9" name="Rectangle 8"/>
          <p:cNvSpPr/>
          <p:nvPr/>
        </p:nvSpPr>
        <p:spPr>
          <a:xfrm>
            <a:off x="7315199" y="1463040"/>
            <a:ext cx="1965960" cy="4709160"/>
          </a:xfrm>
          <a:prstGeom prst="rect">
            <a:avLst/>
          </a:prstGeom>
          <a:solidFill>
            <a:srgbClr val="0C1E3D"/>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D4AF37"/>
                </a:solidFill>
              </a:defRPr>
            </a:pPr>
            <a:r>
              <a:t>WEEK 3</a:t>
            </a:r>
            <a:br/>
            <a:r>
              <a:t>👩‍⚕️ GRASSROOTS TRIAGE</a:t>
            </a:r>
          </a:p>
          <a:p>
            <a:br/>
            <a:br/>
            <a:pPr>
              <a:spcBef>
                <a:spcPts val="1000"/>
              </a:spcBef>
              <a:defRPr sz="950">
                <a:solidFill>
                  <a:srgbClr val="FFFFFF"/>
                </a:solidFill>
              </a:defRPr>
            </a:pPr>
            <a:r>
              <a:t>Pashu Sakhis &amp; ASHA conduct door-to-door herd and drinking well checks.</a:t>
            </a:r>
          </a:p>
        </p:txBody>
      </p:sp>
      <p:sp>
        <p:nvSpPr>
          <p:cNvPr id="10" name="Rectangle 9"/>
          <p:cNvSpPr/>
          <p:nvPr/>
        </p:nvSpPr>
        <p:spPr>
          <a:xfrm>
            <a:off x="9509760" y="1463040"/>
            <a:ext cx="1965960" cy="4709160"/>
          </a:xfrm>
          <a:prstGeom prst="rect">
            <a:avLst/>
          </a:prstGeom>
          <a:solidFill>
            <a:srgbClr val="0C1E3D"/>
          </a:solidFill>
          <a:ln w="19050">
            <a:solidFill>
              <a:srgbClr val="FF525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5252"/>
                </a:solidFill>
              </a:defRPr>
            </a:pPr>
            <a:r>
              <a:t>WEEK 4–8</a:t>
            </a:r>
            <a:br/>
            <a:r>
              <a:t>🛡️ OUTBREAK SUPPRESSED</a:t>
            </a:r>
          </a:p>
          <a:p>
            <a:br/>
            <a:br/>
            <a:pPr>
              <a:spcBef>
                <a:spcPts val="1000"/>
              </a:spcBef>
              <a:defRPr sz="950">
                <a:solidFill>
                  <a:srgbClr val="FFFFFF"/>
                </a:solidFill>
              </a:defRPr>
            </a:pPr>
            <a:r>
              <a:t>Herd quarantined, ORS distributed; epidemic curve flattened before peak.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46520"/>
            <a:ext cx="10728655" cy="320040"/>
          </a:xfrm>
          <a:prstGeom prst="rect">
            <a:avLst/>
          </a:prstGeom>
          <a:noFill/>
        </p:spPr>
        <p:txBody>
          <a:bodyPr wrap="square">
            <a:spAutoFit/>
          </a:bodyPr>
          <a:lstStyle/>
          <a:p>
            <a:pPr>
              <a:defRPr sz="850">
                <a:solidFill>
                  <a:srgbClr val="8FA3BF"/>
                </a:solidFill>
                <a:latin typeface="Consolas"/>
              </a:defRPr>
            </a:pPr>
            <a:r>
              <a:t>EPIWATCH GRAMRAKSHA + PASHURAKSHA  |  RURAL ONE-HEALTH AI DEFENSE SHIELD  |  CONFIDENTIAL &amp; PROPRIETARY</a:t>
            </a:r>
          </a:p>
        </p:txBody>
      </p:sp>
      <p:sp>
        <p:nvSpPr>
          <p:cNvPr id="4" name="Rectangle 3"/>
          <p:cNvSpPr/>
          <p:nvPr/>
        </p:nvSpPr>
        <p:spPr>
          <a:xfrm>
            <a:off x="731520" y="365760"/>
            <a:ext cx="4114800" cy="292608"/>
          </a:xfrm>
          <a:prstGeom prst="rect">
            <a:avLst/>
          </a:prstGeom>
          <a:solidFill>
            <a:srgbClr val="0C1E3D"/>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D4AA"/>
                </a:solidFill>
                <a:latin typeface="Consolas"/>
              </a:defRPr>
            </a:pPr>
            <a:r>
              <a:t>● JUDGE Q&amp;A  [DEF-01]</a:t>
            </a:r>
          </a:p>
        </p:txBody>
      </p:sp>
      <p:sp>
        <p:nvSpPr>
          <p:cNvPr id="5" name="TextBox 4"/>
          <p:cNvSpPr txBox="1"/>
          <p:nvPr/>
        </p:nvSpPr>
        <p:spPr>
          <a:xfrm>
            <a:off x="731520" y="713232"/>
            <a:ext cx="10698480" cy="594360"/>
          </a:xfrm>
          <a:prstGeom prst="rect">
            <a:avLst/>
          </a:prstGeom>
          <a:noFill/>
        </p:spPr>
        <p:txBody>
          <a:bodyPr wrap="none">
            <a:spAutoFit/>
          </a:bodyPr>
          <a:lstStyle/>
          <a:p>
            <a:pPr>
              <a:defRPr sz="2200" b="1">
                <a:solidFill>
                  <a:srgbClr val="FFFFFF"/>
                </a:solidFill>
                <a:latin typeface="Segoe UI"/>
              </a:defRPr>
            </a:pPr>
            <a:r>
              <a:t>Defensible Differentiators: Winning Judge Q&amp;A</a:t>
            </a:r>
          </a:p>
        </p:txBody>
      </p:sp>
      <p:sp>
        <p:nvSpPr>
          <p:cNvPr id="6" name="Rectangle 5"/>
          <p:cNvSpPr/>
          <p:nvPr/>
        </p:nvSpPr>
        <p:spPr>
          <a:xfrm>
            <a:off x="731520" y="1463040"/>
            <a:ext cx="10728655" cy="1417320"/>
          </a:xfrm>
          <a:prstGeom prst="rect">
            <a:avLst/>
          </a:prstGeom>
          <a:solidFill>
            <a:srgbClr val="0C1E3D"/>
          </a:solidFill>
          <a:ln w="1524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00D4AA"/>
                </a:solidFill>
              </a:defRPr>
            </a:pPr>
            <a:r>
              <a:t>Q: 'How does this help a remote farmer with no smartphone?'</a:t>
            </a:r>
          </a:p>
          <a:p>
            <a:pPr>
              <a:spcBef>
                <a:spcPts val="400"/>
              </a:spcBef>
              <a:defRPr sz="1000">
                <a:solidFill>
                  <a:srgbClr val="C8D7E6"/>
                </a:solidFill>
              </a:defRPr>
            </a:pPr>
            <a:r>
              <a:t>A: A farmer doesn't need a smartphone or data charts. They or their village Pashu Sakhi call our toll-free 1800 IVR. Our NLP parses Marathi/Hindi voice reports, notifies the taluka vet, and triggers automated SMS quarantine alerts to neighboring farms.</a:t>
            </a:r>
          </a:p>
        </p:txBody>
      </p:sp>
      <p:sp>
        <p:nvSpPr>
          <p:cNvPr id="7" name="Rectangle 6"/>
          <p:cNvSpPr/>
          <p:nvPr/>
        </p:nvSpPr>
        <p:spPr>
          <a:xfrm>
            <a:off x="731520" y="3063240"/>
            <a:ext cx="10728655" cy="1417320"/>
          </a:xfrm>
          <a:prstGeom prst="rect">
            <a:avLst/>
          </a:prstGeom>
          <a:solidFill>
            <a:srgbClr val="0C1E3D"/>
          </a:solid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D4AF37"/>
                </a:solidFill>
              </a:defRPr>
            </a:pPr>
            <a:r>
              <a:t>Q: 'Is your dataset granular enough for rural talukas?'</a:t>
            </a:r>
          </a:p>
          <a:p>
            <a:pPr>
              <a:spcBef>
                <a:spcPts val="400"/>
              </a:spcBef>
              <a:defRPr sz="1000">
                <a:solidFill>
                  <a:srgbClr val="C8D7E6"/>
                </a:solidFill>
              </a:defRPr>
            </a:pPr>
            <a:r>
              <a:t>A: Yes. Unlike state-level aggregate tools, we ingested the official 19th Livestock Census across all 356 Maharashtra tehsils. We map exact block populations of indigenous cattle, crossbreds, buffaloes, sheep, goats, and backyard poultry.</a:t>
            </a:r>
          </a:p>
        </p:txBody>
      </p:sp>
      <p:sp>
        <p:nvSpPr>
          <p:cNvPr id="8" name="Rectangle 7"/>
          <p:cNvSpPr/>
          <p:nvPr/>
        </p:nvSpPr>
        <p:spPr>
          <a:xfrm>
            <a:off x="731520" y="4663440"/>
            <a:ext cx="10728655" cy="1417320"/>
          </a:xfrm>
          <a:prstGeom prst="rect">
            <a:avLst/>
          </a:prstGeom>
          <a:solidFill>
            <a:srgbClr val="0C1E3D"/>
          </a:solidFill>
          <a:ln w="1524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00F0FF"/>
                </a:solidFill>
              </a:defRPr>
            </a:pPr>
            <a:r>
              <a:t>Q: 'How is this different from existing IDSP/INAPH portals?'</a:t>
            </a:r>
          </a:p>
          <a:p>
            <a:pPr>
              <a:spcBef>
                <a:spcPts val="400"/>
              </a:spcBef>
              <a:defRPr sz="1000">
                <a:solidFill>
                  <a:srgbClr val="C8D7E6"/>
                </a:solidFill>
              </a:defRPr>
            </a:pPr>
            <a:r>
              <a:t>A: IDSP and INAPH are retrospective accounting tools that record cases after damage is done. EpiWatch is a proactive 4-to-8-week forward forecasting engine powered by satellite climate lags and 111 ML ensembles.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46520"/>
            <a:ext cx="10728655" cy="320040"/>
          </a:xfrm>
          <a:prstGeom prst="rect">
            <a:avLst/>
          </a:prstGeom>
          <a:noFill/>
        </p:spPr>
        <p:txBody>
          <a:bodyPr wrap="square">
            <a:spAutoFit/>
          </a:bodyPr>
          <a:lstStyle/>
          <a:p>
            <a:pPr>
              <a:defRPr sz="850">
                <a:solidFill>
                  <a:srgbClr val="8FA3BF"/>
                </a:solidFill>
                <a:latin typeface="Consolas"/>
              </a:defRPr>
            </a:pPr>
            <a:r>
              <a:t>EPIWATCH GRAMRAKSHA + PASHURAKSHA  |  RURAL ONE-HEALTH AI DEFENSE SHIELD  |  CONFIDENTIAL &amp; PROPRIETARY</a:t>
            </a:r>
          </a:p>
        </p:txBody>
      </p:sp>
      <p:sp>
        <p:nvSpPr>
          <p:cNvPr id="4" name="Rectangle 3"/>
          <p:cNvSpPr/>
          <p:nvPr/>
        </p:nvSpPr>
        <p:spPr>
          <a:xfrm>
            <a:off x="731520" y="365760"/>
            <a:ext cx="4114800" cy="292608"/>
          </a:xfrm>
          <a:prstGeom prst="rect">
            <a:avLst/>
          </a:prstGeom>
          <a:solidFill>
            <a:srgbClr val="0C1E3D"/>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D4AA"/>
                </a:solidFill>
                <a:latin typeface="Consolas"/>
              </a:defRPr>
            </a:pPr>
            <a:r>
              <a:t>● TECH SPECS  [TECH-01]</a:t>
            </a:r>
          </a:p>
        </p:txBody>
      </p:sp>
      <p:sp>
        <p:nvSpPr>
          <p:cNvPr id="5" name="TextBox 4"/>
          <p:cNvSpPr txBox="1"/>
          <p:nvPr/>
        </p:nvSpPr>
        <p:spPr>
          <a:xfrm>
            <a:off x="731520" y="713232"/>
            <a:ext cx="10698480" cy="594360"/>
          </a:xfrm>
          <a:prstGeom prst="rect">
            <a:avLst/>
          </a:prstGeom>
          <a:noFill/>
        </p:spPr>
        <p:txBody>
          <a:bodyPr wrap="none">
            <a:spAutoFit/>
          </a:bodyPr>
          <a:lstStyle/>
          <a:p>
            <a:pPr>
              <a:defRPr sz="2200" b="1">
                <a:solidFill>
                  <a:srgbClr val="FFFFFF"/>
                </a:solidFill>
                <a:latin typeface="Segoe UI"/>
              </a:defRPr>
            </a:pPr>
            <a:r>
              <a:t>Unified Technology Stack &amp; Verified Data Provenance</a:t>
            </a:r>
          </a:p>
        </p:txBody>
      </p:sp>
      <p:sp>
        <p:nvSpPr>
          <p:cNvPr id="6" name="Rectangle 5"/>
          <p:cNvSpPr/>
          <p:nvPr/>
        </p:nvSpPr>
        <p:spPr>
          <a:xfrm>
            <a:off x="731520" y="1463040"/>
            <a:ext cx="2514600" cy="4709160"/>
          </a:xfrm>
          <a:prstGeom prst="rect">
            <a:avLst/>
          </a:prstGeom>
          <a:solidFill>
            <a:srgbClr val="0C1E3D"/>
          </a:solidFill>
          <a:ln w="1524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0F0FF"/>
                </a:solidFill>
              </a:defRPr>
            </a:pPr>
            <a:r>
              <a:t>🎨 FRONTEND &amp; UI</a:t>
            </a:r>
          </a:p>
          <a:p>
            <a:br/>
            <a:pPr>
              <a:spcBef>
                <a:spcPts val="800"/>
              </a:spcBef>
              <a:defRPr sz="950">
                <a:solidFill>
                  <a:srgbClr val="C8D7E6"/>
                </a:solidFill>
              </a:defRPr>
            </a:pPr>
            <a:r>
              <a:t>• Next.js 15 App Router</a:t>
            </a:r>
            <a:br/>
            <a:r>
              <a:t>• Responsive Blueprint HUD</a:t>
            </a:r>
            <a:br/>
            <a:r>
              <a:t>• Interactive Leaflet Map</a:t>
            </a:r>
            <a:br/>
            <a:r>
              <a:t>• Dynamic Simulation Sandbox</a:t>
            </a:r>
            <a:br/>
            <a:r>
              <a:t>• Full WCAG Vernacular Ready</a:t>
            </a:r>
          </a:p>
        </p:txBody>
      </p:sp>
      <p:sp>
        <p:nvSpPr>
          <p:cNvPr id="7" name="Rectangle 6"/>
          <p:cNvSpPr/>
          <p:nvPr/>
        </p:nvSpPr>
        <p:spPr>
          <a:xfrm>
            <a:off x="3474720" y="1463040"/>
            <a:ext cx="2514600" cy="4709160"/>
          </a:xfrm>
          <a:prstGeom prst="rect">
            <a:avLst/>
          </a:prstGeom>
          <a:solidFill>
            <a:srgbClr val="0C1E3D"/>
          </a:solidFill>
          <a:ln w="1524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0D4AA"/>
                </a:solidFill>
              </a:defRPr>
            </a:pPr>
            <a:r>
              <a:t>⚙️ BACKEND &amp; API</a:t>
            </a:r>
          </a:p>
          <a:p>
            <a:br/>
            <a:pPr>
              <a:spcBef>
                <a:spcPts val="800"/>
              </a:spcBef>
              <a:defRPr sz="950">
                <a:solidFill>
                  <a:srgbClr val="C8D7E6"/>
                </a:solidFill>
              </a:defRPr>
            </a:pPr>
            <a:r>
              <a:t>• Python 3.12 &amp; FastAPI</a:t>
            </a:r>
            <a:br/>
            <a:r>
              <a:t>• SQLAlchemy Resilient Engine</a:t>
            </a:r>
            <a:br/>
            <a:r>
              <a:t>• PostgreSQL + SQLite Fallback</a:t>
            </a:r>
            <a:br/>
            <a:r>
              <a:t>• Grounded RAG Assistant</a:t>
            </a:r>
            <a:br/>
            <a:r>
              <a:t>• 200+ Trained ML Models</a:t>
            </a:r>
          </a:p>
        </p:txBody>
      </p:sp>
      <p:sp>
        <p:nvSpPr>
          <p:cNvPr id="8" name="Rectangle 7"/>
          <p:cNvSpPr/>
          <p:nvPr/>
        </p:nvSpPr>
        <p:spPr>
          <a:xfrm>
            <a:off x="6217920" y="1463040"/>
            <a:ext cx="2514600" cy="4709160"/>
          </a:xfrm>
          <a:prstGeom prst="rect">
            <a:avLst/>
          </a:prstGeom>
          <a:solidFill>
            <a:srgbClr val="0C1E3D"/>
          </a:solidFill>
          <a:ln w="1524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D4AF37"/>
                </a:solidFill>
              </a:defRPr>
            </a:pPr>
            <a:r>
              <a:t>🧠 ML &amp; DATA ENGINE</a:t>
            </a:r>
          </a:p>
          <a:p>
            <a:br/>
            <a:pPr>
              <a:spcBef>
                <a:spcPts val="800"/>
              </a:spcBef>
              <a:defRPr sz="950">
                <a:solidFill>
                  <a:srgbClr val="C8D7E6"/>
                </a:solidFill>
              </a:defRPr>
            </a:pPr>
            <a:r>
              <a:t>• HistGradientBoosting + XGBoost</a:t>
            </a:r>
            <a:br/>
            <a:r>
              <a:t>• 111 MOSPI National Ensembles</a:t>
            </a:r>
            <a:br/>
            <a:r>
              <a:t>• 44 District Calibrated Models</a:t>
            </a:r>
            <a:br/>
            <a:r>
              <a:t>• 517 Clinical Presentation NLP</a:t>
            </a:r>
            <a:br/>
            <a:r>
              <a:t>• Scikit-learn + SHAP Analysis</a:t>
            </a:r>
          </a:p>
        </p:txBody>
      </p:sp>
      <p:sp>
        <p:nvSpPr>
          <p:cNvPr id="9" name="Rectangle 8"/>
          <p:cNvSpPr/>
          <p:nvPr/>
        </p:nvSpPr>
        <p:spPr>
          <a:xfrm>
            <a:off x="8961120" y="1463040"/>
            <a:ext cx="2514600" cy="4709160"/>
          </a:xfrm>
          <a:prstGeom prst="rect">
            <a:avLst/>
          </a:prstGeom>
          <a:solidFill>
            <a:srgbClr val="0C1E3D"/>
          </a:solidFill>
          <a:ln w="15240">
            <a:solidFill>
              <a:srgbClr val="4FC3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4FC3F7"/>
                </a:solidFill>
              </a:defRPr>
            </a:pPr>
            <a:r>
              <a:t>🛰️ DATA PROVENANCE</a:t>
            </a:r>
          </a:p>
          <a:p>
            <a:br/>
            <a:pPr>
              <a:spcBef>
                <a:spcPts val="800"/>
              </a:spcBef>
              <a:defRPr sz="950">
                <a:solidFill>
                  <a:srgbClr val="C8D7E6"/>
                </a:solidFill>
              </a:defRPr>
            </a:pPr>
            <a:r>
              <a:t>• NASA POWER Climate Satellites</a:t>
            </a:r>
            <a:br/>
            <a:r>
              <a:t>• 11-Yr MOSPI Livestock Series</a:t>
            </a:r>
            <a:br/>
            <a:r>
              <a:t>• 19th Livestock Census (356 Tehsils)</a:t>
            </a:r>
            <a:br/>
            <a:r>
              <a:t>• IDSP Epidemiological Series</a:t>
            </a:r>
            <a:br/>
            <a:r>
              <a:t>• Dataful Verified Open Datasets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112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46520"/>
            <a:ext cx="10728655" cy="320040"/>
          </a:xfrm>
          <a:prstGeom prst="rect">
            <a:avLst/>
          </a:prstGeom>
          <a:noFill/>
        </p:spPr>
        <p:txBody>
          <a:bodyPr wrap="square">
            <a:spAutoFit/>
          </a:bodyPr>
          <a:lstStyle/>
          <a:p>
            <a:pPr>
              <a:defRPr sz="850">
                <a:solidFill>
                  <a:srgbClr val="8FA3BF"/>
                </a:solidFill>
                <a:latin typeface="Consolas"/>
              </a:defRPr>
            </a:pPr>
            <a:r>
              <a:t>EPIWATCH GRAMRAKSHA + PASHURAKSHA  |  RURAL ONE-HEALTH AI DEFENSE SHIELD  |  CONFIDENTIAL &amp; PROPRIETARY</a:t>
            </a:r>
          </a:p>
        </p:txBody>
      </p:sp>
      <p:sp>
        <p:nvSpPr>
          <p:cNvPr id="4" name="Rectangle 3"/>
          <p:cNvSpPr/>
          <p:nvPr/>
        </p:nvSpPr>
        <p:spPr>
          <a:xfrm>
            <a:off x="731520" y="365760"/>
            <a:ext cx="4114800" cy="292608"/>
          </a:xfrm>
          <a:prstGeom prst="rect">
            <a:avLst/>
          </a:prstGeom>
          <a:solidFill>
            <a:srgbClr val="0C1E3D"/>
          </a:solidFill>
          <a:ln w="127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D4AA"/>
                </a:solidFill>
                <a:latin typeface="Consolas"/>
              </a:defRPr>
            </a:pPr>
            <a:r>
              <a:t>● IMPACT &amp; VISION  [VIS-01]</a:t>
            </a:r>
          </a:p>
        </p:txBody>
      </p:sp>
      <p:sp>
        <p:nvSpPr>
          <p:cNvPr id="5" name="TextBox 4"/>
          <p:cNvSpPr txBox="1"/>
          <p:nvPr/>
        </p:nvSpPr>
        <p:spPr>
          <a:xfrm>
            <a:off x="731520" y="713232"/>
            <a:ext cx="10698480" cy="594360"/>
          </a:xfrm>
          <a:prstGeom prst="rect">
            <a:avLst/>
          </a:prstGeom>
          <a:noFill/>
        </p:spPr>
        <p:txBody>
          <a:bodyPr wrap="none">
            <a:spAutoFit/>
          </a:bodyPr>
          <a:lstStyle/>
          <a:p>
            <a:pPr>
              <a:defRPr sz="2200" b="1">
                <a:solidFill>
                  <a:srgbClr val="FFFFFF"/>
                </a:solidFill>
                <a:latin typeface="Segoe UI"/>
              </a:defRPr>
            </a:pPr>
            <a:r>
              <a:t>National Scale, Economic Impact &amp; One-Health Vision</a:t>
            </a:r>
          </a:p>
        </p:txBody>
      </p:sp>
      <p:sp>
        <p:nvSpPr>
          <p:cNvPr id="6" name="Rectangle 5"/>
          <p:cNvSpPr/>
          <p:nvPr/>
        </p:nvSpPr>
        <p:spPr>
          <a:xfrm>
            <a:off x="731520" y="1463040"/>
            <a:ext cx="10728655" cy="4709160"/>
          </a:xfrm>
          <a:prstGeom prst="rect">
            <a:avLst/>
          </a:prstGeom>
          <a:solidFill>
            <a:srgbClr val="0C1E3D"/>
          </a:solidFill>
          <a:ln w="1905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0F0FF"/>
                </a:solidFill>
              </a:defRPr>
            </a:pPr>
            <a:r>
              <a:t>🌟 Transforming 140 Million Rural Livelihoods</a:t>
            </a:r>
          </a:p>
          <a:p>
            <a:br/>
            <a:pPr>
              <a:defRPr sz="1200" b="1">
                <a:solidFill>
                  <a:srgbClr val="FFFFFF"/>
                </a:solidFill>
              </a:defRPr>
            </a:pPr>
            <a:r>
              <a:t>🚀 ₹1,400+ Crore Livestock Asset Protection</a:t>
            </a:r>
          </a:p>
          <a:p>
            <a:pPr>
              <a:defRPr sz="1050">
                <a:solidFill>
                  <a:srgbClr val="C8D7E6"/>
                </a:solidFill>
              </a:defRPr>
            </a:pPr>
            <a:r>
              <a:t>Preventing catastrophic herd mortalities and maintaining milk production stability for smallholder families.</a:t>
            </a:r>
          </a:p>
          <a:p>
            <a:br/>
            <a:pPr>
              <a:defRPr sz="1200" b="1">
                <a:solidFill>
                  <a:srgbClr val="FFFFFF"/>
                </a:solidFill>
              </a:defRPr>
            </a:pPr>
            <a:r>
              <a:t>🚀 80% Reduction in Epidemic Confirmation Delay</a:t>
            </a:r>
          </a:p>
          <a:p>
            <a:pPr>
              <a:defRPr sz="1050">
                <a:solidFill>
                  <a:srgbClr val="C8D7E6"/>
                </a:solidFill>
              </a:defRPr>
            </a:pPr>
            <a:r>
              <a:t>Slashing diagnostic latency from 21 days to under 2 hours via instant NLP field triage and cold-chain lab tracking.</a:t>
            </a:r>
          </a:p>
          <a:p>
            <a:br/>
            <a:pPr>
              <a:defRPr sz="1200" b="1">
                <a:solidFill>
                  <a:srgbClr val="FFFFFF"/>
                </a:solidFill>
              </a:defRPr>
            </a:pPr>
            <a:r>
              <a:t>🚀 Scalable to 700+ Indian Districts</a:t>
            </a:r>
          </a:p>
          <a:p>
            <a:pPr>
              <a:defRPr sz="1050">
                <a:solidFill>
                  <a:srgbClr val="C8D7E6"/>
                </a:solidFill>
              </a:defRPr>
            </a:pPr>
            <a:r>
              <a:t>Modular architecture readily ingests census and climate feeds for Karnataka (240 talukas), West Bengal, and nationwide implementation.</a:t>
            </a:r>
          </a:p>
          <a:p>
            <a:br/>
            <a:pPr>
              <a:defRPr sz="1200" b="1">
                <a:solidFill>
                  <a:srgbClr val="FFFFFF"/>
                </a:solidFill>
              </a:defRPr>
            </a:pPr>
            <a:r>
              <a:t>🚀 True Grassroots One-Health Realization</a:t>
            </a:r>
          </a:p>
          <a:p>
            <a:pPr>
              <a:defRPr sz="1050">
                <a:solidFill>
                  <a:srgbClr val="C8D7E6"/>
                </a:solidFill>
              </a:defRPr>
            </a:pPr>
            <a:r>
              <a:t>Unifying animal welfare, human health, and climate telemetry into a single actionable defense shield for Gram Panchayats.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